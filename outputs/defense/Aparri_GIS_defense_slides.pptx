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GIS part only. Say at the start that the GIS analysis was rebuilt in a documented, scripted workflow and that the figures differ from the proposal-stage figures (see the adviser memo).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EPR in one sentence with the diagram: two distances measured along the same transect, subtract, divide by 35 years.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asked about the source of the shorelines, answer from docs/04_defense_qa.md Q7 — fill in the origin truthfully.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honest message: the technical choices do not matter; the class limits are conventions and the coast sits near the 2 m/yr limit.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to inset A: at Bulala Norte the 1990 line (purple) lies well seaward of the later lines. Inset B: the river mouth, where lines cross — not classified.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High class on the open coast. Medium at Bulala Sur/Norte and parts of Linao, Dodan, Maura. Dotted = low confidence, grey = not classified.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Grey band = ±1.21 m/yr (one 30 m pixel at both dates, a what-if because no measured error exists). Red dots are the independent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transparent. This slide pre-empts the question “why did your map change?”.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claim a test that was not run. See docs/06_survey_statistics.md.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with the field-inspection priority ranking (outputs/tables/priority_ranking_field_inspection.csv), which is stable across weights.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600" b="1">
                <a:solidFill>
                  <a:srgbClr val="1F3A5F"/>
                </a:solidFill>
                <a:latin typeface="Calibri"/>
              </a:defRPr>
            </a:pPr>
            <a:r>
              <a:t>Shoreline change and erosion-rate classes along eight coastal barangays of Aparri, Cagayan, 1990–2025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555555"/>
                </a:solidFill>
                <a:latin typeface="Calibri"/>
              </a:defRPr>
            </a:pPr>
            <a:r>
              <a:t>GIS component of the thesis “Development of Construction Management Framework for Shoreline Protection Structures …”</a:t>
            </a:r>
          </a:p>
          <a:p>
            <a:pPr>
              <a:spcAft>
                <a:spcPts val="600"/>
              </a:spcAft>
              <a:defRPr sz="1800" b="0">
                <a:solidFill>
                  <a:srgbClr val="555555"/>
                </a:solidFill>
                <a:latin typeface="Calibri"/>
              </a:defRPr>
            </a:pPr>
            <a:r>
              <a:t>Cagayan State University – Carig Campus · [DRAFT – FOR STUDENT REVIEW]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F3A5F"/>
                </a:solidFill>
                <a:latin typeface="Calibri"/>
              </a:defRPr>
            </a:pPr>
            <a:r>
              <a:t>What we measured and 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F3A5F"/>
                </a:solidFill>
                <a:latin typeface="Calibri"/>
              </a:defRPr>
            </a:pPr>
            <a:r>
              <a:t>Question (Objective 1): which parts of the coast erode slowly, moderately or fast?</a:t>
            </a:r>
          </a:p>
          <a:p>
            <a:pPr>
              <a:spcAft>
                <a:spcPts val="600"/>
              </a:spcAft>
              <a:defRPr sz="1800" b="0">
                <a:solidFill>
                  <a:srgbClr val="1F3A5F"/>
                </a:solidFill>
                <a:latin typeface="Calibri"/>
              </a:defRPr>
            </a:pPr>
            <a:r>
              <a:t>Measure: End Point Rate (EPR) = shoreline movement 1990 → 2025 ÷ 35 years; negative = landward = erosion.</a:t>
            </a:r>
          </a:p>
          <a:p>
            <a:pPr>
              <a:spcAft>
                <a:spcPts val="600"/>
              </a:spcAft>
              <a:defRPr sz="1800" b="0">
                <a:solidFill>
                  <a:srgbClr val="1F3A5F"/>
                </a:solidFill>
                <a:latin typeface="Calibri"/>
              </a:defRPr>
            </a:pPr>
            <a:r>
              <a:t>Classes (Table 3.1): Low &lt; 2 · Medium 2–5 · High &gt; 5 m/yr.</a:t>
            </a:r>
          </a:p>
          <a:p>
            <a:pPr>
              <a:spcAft>
                <a:spcPts val="600"/>
              </a:spcAft>
              <a:defRPr sz="1800" b="0">
                <a:solidFill>
                  <a:srgbClr val="1F3A5F"/>
                </a:solidFill>
                <a:latin typeface="Calibri"/>
              </a:defRPr>
            </a:pPr>
            <a:r>
              <a:t>Study area: open sea-facing coast of 8 barangays, 20.2 km, from Bulala Sur to Paddaya.</a:t>
            </a:r>
          </a:p>
          <a:p>
            <a:pPr>
              <a:spcAft>
                <a:spcPts val="600"/>
              </a:spcAft>
              <a:defRPr sz="1800" b="0">
                <a:solidFill>
                  <a:srgbClr val="1F3A5F"/>
                </a:solidFill>
                <a:latin typeface="Calibri"/>
              </a:defRPr>
            </a:pPr>
            <a:r>
              <a:t>The classes describe the erosion RATE only — not exposure or vulnerability.</a:t>
            </a:r>
          </a:p>
        </p:txBody>
      </p:sp>
      <p:pic>
        <p:nvPicPr>
          <p:cNvPr id="4" name="Picture 3" descr="method_transect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486400" cy="25935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F3A5F"/>
                </a:solidFill>
                <a:latin typeface="Calibri"/>
              </a:defRPr>
            </a:pPr>
            <a:r>
              <a:t>How the numbers were produced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555555"/>
                </a:solidFill>
                <a:latin typeface="Calibri"/>
              </a:defRPr>
            </a:pPr>
            <a:r>
              <a:t>Reproducible workflow – every step logged; all parameters in one config 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 b="0">
                <a:solidFill>
                  <a:srgbClr val="1F3A5F"/>
                </a:solidFill>
                <a:latin typeface="Calibri"/>
              </a:defRPr>
            </a:pPr>
            <a:r>
              <a:t>1  Shoreline lines for 1990, 2000, 2010, 2020, 2025 → cleaned (duplicate stretch, loops, fragments) with a logged script</a:t>
            </a:r>
          </a:p>
          <a:p>
            <a:pPr>
              <a:spcAft>
                <a:spcPts val="600"/>
              </a:spcAft>
              <a:defRPr sz="1900" b="0">
                <a:solidFill>
                  <a:srgbClr val="1F3A5F"/>
                </a:solidFill>
                <a:latin typeface="Calibri"/>
              </a:defRPr>
            </a:pPr>
            <a:r>
              <a:t>2  Open coast separated from the Cagayan River banks by a fixed geometric rule</a:t>
            </a:r>
          </a:p>
          <a:p>
            <a:pPr>
              <a:spcAft>
                <a:spcPts val="600"/>
              </a:spcAft>
              <a:defRPr sz="1900" b="0">
                <a:solidFill>
                  <a:srgbClr val="1F3A5F"/>
                </a:solidFill>
                <a:latin typeface="Calibri"/>
              </a:defRPr>
            </a:pPr>
            <a:r>
              <a:t>3  Baseline on land behind all years; 415 transects every 50 m (373 valid)</a:t>
            </a:r>
          </a:p>
          <a:p>
            <a:pPr>
              <a:spcAft>
                <a:spcPts val="600"/>
              </a:spcAft>
              <a:defRPr sz="1900" b="0">
                <a:solidFill>
                  <a:srgbClr val="1F3A5F"/>
                </a:solidFill>
                <a:latin typeface="Calibri"/>
              </a:defRPr>
            </a:pPr>
            <a:r>
              <a:t>4  NSM, EPR (1990–2025) and LRR (all years); classes from Table 3.1</a:t>
            </a:r>
          </a:p>
          <a:p>
            <a:pPr>
              <a:spcAft>
                <a:spcPts val="600"/>
              </a:spcAft>
              <a:defRPr sz="1900" b="0">
                <a:solidFill>
                  <a:srgbClr val="1F3A5F"/>
                </a:solidFill>
                <a:latin typeface="Calibri"/>
              </a:defRPr>
            </a:pPr>
            <a:r>
              <a:t>5  Barangay summary (Table 4.2): kilometres of shoreline per class (+ hectares of a 100 m strip)</a:t>
            </a:r>
          </a:p>
          <a:p>
            <a:pPr>
              <a:spcAft>
                <a:spcPts val="600"/>
              </a:spcAft>
              <a:defRPr sz="1900" b="0">
                <a:solidFill>
                  <a:srgbClr val="1F3A5F"/>
                </a:solidFill>
                <a:latin typeface="Calibri"/>
              </a:defRPr>
            </a:pPr>
            <a:r>
              <a:t>[STUDENTS: add one line on the imagery source, sensors and dates]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F3A5F"/>
                </a:solidFill>
                <a:latin typeface="Calibri"/>
              </a:defRPr>
            </a:pPr>
            <a:r>
              <a:t>How we know the method is right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555555"/>
                </a:solidFill>
                <a:latin typeface="Calibri"/>
              </a:defRPr>
            </a:pPr>
            <a:r>
              <a:t>Checks with known answers, a second data set, and sensitivity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F3A5F"/>
                </a:solidFill>
                <a:latin typeface="Calibri"/>
              </a:defRPr>
            </a:pPr>
            <a:r>
              <a:t>Synthetic coasts with known change: 2.000 m/yr retreat → EPR −2.000; 1.500 m/yr advance → +1.500; curved coast within 0.01 m/yr</a:t>
            </a:r>
          </a:p>
          <a:p>
            <a:pPr>
              <a:spcAft>
                <a:spcPts val="600"/>
              </a:spcAft>
              <a:defRPr sz="1700" b="0">
                <a:solidFill>
                  <a:srgbClr val="1F3A5F"/>
                </a:solidFill>
                <a:latin typeface="Calibri"/>
              </a:defRPr>
            </a:pPr>
            <a:r>
              <a:t>Independent shoreline set (from the Earth Engine masks): EPR r = 0.89; same class for 92 % of 253 transects</a:t>
            </a:r>
          </a:p>
          <a:p>
            <a:pPr>
              <a:spcAft>
                <a:spcPts val="600"/>
              </a:spcAft>
              <a:defRPr sz="1700" b="0">
                <a:solidFill>
                  <a:srgbClr val="1F3A5F"/>
                </a:solidFill>
                <a:latin typeface="Calibri"/>
              </a:defRPr>
            </a:pPr>
            <a:r>
              <a:t>Spacing, smoothing, baseline offset change any class share by ≤ 0.5 percentage points</a:t>
            </a:r>
          </a:p>
          <a:p>
            <a:pPr>
              <a:spcAft>
                <a:spcPts val="600"/>
              </a:spcAft>
              <a:defRPr sz="1700" b="0">
                <a:solidFill>
                  <a:srgbClr val="1F3A5F"/>
                </a:solidFill>
                <a:latin typeface="Calibri"/>
              </a:defRPr>
            </a:pPr>
            <a:r>
              <a:t>Shifting the class limits by ±0.5 m/yr moves the Medium share from 27 % to 19–48 %</a:t>
            </a:r>
          </a:p>
        </p:txBody>
      </p:sp>
      <p:pic>
        <p:nvPicPr>
          <p:cNvPr id="5" name="Picture 4" descr="Fig_6_sensitivity_class_sha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5486400" cy="249381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F3A5F"/>
                </a:solidFill>
                <a:latin typeface="Calibri"/>
              </a:defRPr>
            </a:pPr>
            <a:r>
              <a:t>Figure 4.1 — shorelines 1990–2025</a:t>
            </a:r>
          </a:p>
        </p:txBody>
      </p:sp>
      <p:pic>
        <p:nvPicPr>
          <p:cNvPr id="3" name="Picture 2" descr="Fig_4_1_v2_multitemporal_shoreli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40" y="1097280"/>
            <a:ext cx="7884516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F3A5F"/>
                </a:solidFill>
                <a:latin typeface="Calibri"/>
              </a:defRPr>
            </a:pPr>
            <a:r>
              <a:t>Figure 4.2 — erosion-rate classes</a:t>
            </a:r>
          </a:p>
        </p:txBody>
      </p:sp>
      <p:pic>
        <p:nvPicPr>
          <p:cNvPr id="3" name="Picture 2" descr="Fig_4_2_v2_erosion_risk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40" y="1097280"/>
            <a:ext cx="7884516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F3A5F"/>
                </a:solidFill>
                <a:latin typeface="Calibri"/>
              </a:defRPr>
            </a:pPr>
            <a:r>
              <a:t>Rate along the coast, with the error band</a:t>
            </a:r>
          </a:p>
        </p:txBody>
      </p:sp>
      <p:pic>
        <p:nvPicPr>
          <p:cNvPr id="3" name="Picture 2" descr="Fig_4_3_epr_profile_along_co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437032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F3A5F"/>
                </a:solidFill>
                <a:latin typeface="Calibri"/>
              </a:defRPr>
            </a:pPr>
            <a:r>
              <a:t>Table 4.2 — barangay-level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6731"/>
                <a:gridCol w="1606731"/>
                <a:gridCol w="1606731"/>
                <a:gridCol w="1606731"/>
                <a:gridCol w="1606731"/>
                <a:gridCol w="1606731"/>
                <a:gridCol w="1606734"/>
              </a:tblGrid>
              <a:tr h="386080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Barangay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Mean EPR (m/year)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Minimum EPR (m/year)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Maximum EPR (m/year)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Low Risk (ha)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Medium Risk (ha)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High Risk (ha)</a:t>
                      </a:r>
                    </a:p>
                  </a:txBody>
                  <a:tcPr/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Dodan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-1.93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-2.21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-1.76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12.50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7.49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/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Maura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-1.39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-2.07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-0.62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56.97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1.50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/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Bulala Norte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-3.35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-3.49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-3.19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13.46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/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San Antonio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-0.91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-1.41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-0.53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6.51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/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Linao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-0.70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-3.21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5.30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12.80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13.09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/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Paddaya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-1.41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-1.76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-1.36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46.50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/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Punta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0.19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-0.05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0.53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3.02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/>
                </a:tc>
              </a:tr>
              <a:tr h="386080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Bulala Sur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-2.74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-3.16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-2.32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14.35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12064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55555"/>
                </a:solidFill>
                <a:latin typeface="Calibri"/>
              </a:defRPr>
            </a:pPr>
            <a:r>
              <a:t>Hectares = kilometres of classified shoreline × a 100 m strip (assumption). Kilometres per class are in the extended table.</a:t>
            </a:r>
          </a:p>
          <a:p>
            <a:pPr>
              <a:spcAft>
                <a:spcPts val="600"/>
              </a:spcAft>
              <a:defRPr sz="1400" b="0">
                <a:solidFill>
                  <a:srgbClr val="555555"/>
                </a:solidFill>
                <a:latin typeface="Calibri"/>
              </a:defRPr>
            </a:pPr>
            <a:r>
              <a:t>Medium: Bulala Sur and Bulala Norte (most robust). Low vs Medium elsewhere is within the ±1.21 m/yr error band for much of the coast.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F3A5F"/>
                </a:solidFill>
                <a:latin typeface="Calibri"/>
              </a:defRPr>
            </a:pPr>
            <a:r>
              <a:t>Why the figures differ from the proposal stage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69494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F3A5F"/>
                </a:solidFill>
                <a:latin typeface="Calibri"/>
              </a:defRPr>
            </a:pPr>
            <a:r>
              <a:t>The earlier layers could not be reproduced: 7 hand-drawn polygons carried all the Medium/High labels; 48 polygons labelled “Medium” had a rate of 0.857 m/yr (&lt; 2).</a:t>
            </a:r>
          </a:p>
          <a:p>
            <a:pPr>
              <a:spcAft>
                <a:spcPts val="600"/>
              </a:spcAft>
              <a:defRPr sz="1700" b="0">
                <a:solidFill>
                  <a:srgbClr val="1F3A5F"/>
                </a:solidFill>
                <a:latin typeface="Calibri"/>
              </a:defRPr>
            </a:pPr>
            <a:r>
              <a:t>The Earth Engine statistics were computed in 1 km circles around points; two study barangays were empty; 96 % of “accretion” pixels were open sea.</a:t>
            </a:r>
          </a:p>
          <a:p>
            <a:pPr>
              <a:spcAft>
                <a:spcPts val="600"/>
              </a:spcAft>
              <a:defRPr sz="1700" b="0">
                <a:solidFill>
                  <a:srgbClr val="1F3A5F"/>
                </a:solidFill>
                <a:latin typeface="Calibri"/>
              </a:defRPr>
            </a:pPr>
            <a:r>
              <a:t>We rebuilt the analysis from the shoreline lines with a documented pipeline and told the adviser (memo).</a:t>
            </a:r>
          </a:p>
          <a:p>
            <a:pPr>
              <a:spcAft>
                <a:spcPts val="600"/>
              </a:spcAft>
              <a:defRPr sz="1700" b="0">
                <a:solidFill>
                  <a:srgbClr val="1F3A5F"/>
                </a:solidFill>
                <a:latin typeface="Calibri"/>
              </a:defRPr>
            </a:pPr>
            <a:r>
              <a:t>Result: High along Bulala (old Fig. 4.2) is replaced by Medium; no High on the open coast.</a:t>
            </a:r>
          </a:p>
        </p:txBody>
      </p:sp>
      <p:pic>
        <p:nvPicPr>
          <p:cNvPr id="4" name="Picture 3" descr="Fig_legacy_vs_rebui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645920"/>
            <a:ext cx="4206240" cy="323556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F3A5F"/>
                </a:solidFill>
                <a:latin typeface="Calibri"/>
              </a:defRPr>
            </a:pPr>
            <a:r>
              <a:t>Survey: ranking of the five structures (Table 4.4)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 b="0">
                <a:solidFill>
                  <a:srgbClr val="1F3A5F"/>
                </a:solidFill>
                <a:latin typeface="Calibri"/>
              </a:defRPr>
            </a:pPr>
            <a:r>
              <a:t>54 experts rated 5 structures on 6 criteria (1–5): Seawall 4.35 (Very High) &gt; Mangrove 4.14 &gt; Revetment 3.99 &gt; Breakwater 3.71 &gt; Riprap 3.63.</a:t>
            </a:r>
          </a:p>
          <a:p>
            <a:pPr>
              <a:spcAft>
                <a:spcPts val="600"/>
              </a:spcAft>
              <a:defRPr sz="1900" b="0">
                <a:solidFill>
                  <a:srgbClr val="1F3A5F"/>
                </a:solidFill>
                <a:latin typeface="Calibri"/>
              </a:defRPr>
            </a:pPr>
            <a:r>
              <a:t>Ranking is robust to criterion weights: Seawall first in 96 % of random weightings; the order of the others is not.</a:t>
            </a:r>
          </a:p>
          <a:p>
            <a:pPr>
              <a:spcAft>
                <a:spcPts val="600"/>
              </a:spcAft>
              <a:defRPr sz="1900" b="0">
                <a:solidFill>
                  <a:srgbClr val="1F3A5F"/>
                </a:solidFill>
                <a:latin typeface="Calibri"/>
              </a:defRPr>
            </a:pPr>
            <a:r>
              <a:t>Limits: area-wide ranking (not per risk level); 54 respondents, mostly early-career; no SD or test reported yet.</a:t>
            </a:r>
          </a:p>
          <a:p>
            <a:pPr>
              <a:spcAft>
                <a:spcPts val="600"/>
              </a:spcAft>
              <a:defRPr sz="1900" b="0">
                <a:solidFill>
                  <a:srgbClr val="1F3A5F"/>
                </a:solidFill>
                <a:latin typeface="Calibri"/>
              </a:defRPr>
            </a:pPr>
            <a:r>
              <a:t>[STUDENTS: add Cronbach’s alpha and the test among structures once the raw data are analysed]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F3A5F"/>
                </a:solidFill>
                <a:latin typeface="Calibri"/>
              </a:defRPr>
            </a:pPr>
            <a:r>
              <a:t>Limitations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669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F3A5F"/>
                </a:solidFill>
                <a:latin typeface="Calibri"/>
              </a:defRPr>
            </a:pPr>
            <a:r>
              <a:t>Limitations</a:t>
            </a:r>
          </a:p>
          <a:p>
            <a:pPr>
              <a:spcAft>
                <a:spcPts val="600"/>
              </a:spcAft>
              <a:defRPr sz="1700" b="0">
                <a:solidFill>
                  <a:srgbClr val="1F3A5F"/>
                </a:solidFill>
                <a:latin typeface="Calibri"/>
              </a:defRPr>
            </a:pPr>
            <a:r>
              <a:t>• 30 m imagery; dates, tide and measured error not recorded</a:t>
            </a:r>
          </a:p>
          <a:p>
            <a:pPr>
              <a:spcAft>
                <a:spcPts val="600"/>
              </a:spcAft>
              <a:defRPr sz="1700" b="0">
                <a:solidFill>
                  <a:srgbClr val="1F3A5F"/>
                </a:solidFill>
                <a:latin typeface="Calibri"/>
              </a:defRPr>
            </a:pPr>
            <a:r>
              <a:t>• Waterline indicator; erosion rate only (no exposure)</a:t>
            </a:r>
          </a:p>
          <a:p>
            <a:pPr>
              <a:spcAft>
                <a:spcPts val="600"/>
              </a:spcAft>
              <a:defRPr sz="1700" b="0">
                <a:solidFill>
                  <a:srgbClr val="1F3A5F"/>
                </a:solidFill>
                <a:latin typeface="Calibri"/>
              </a:defRPr>
            </a:pPr>
            <a:r>
              <a:t>• River mouth not classified</a:t>
            </a:r>
          </a:p>
          <a:p>
            <a:pPr>
              <a:spcAft>
                <a:spcPts val="600"/>
              </a:spcAft>
              <a:defRPr sz="1700" b="0">
                <a:solidFill>
                  <a:srgbClr val="1F3A5F"/>
                </a:solidFill>
                <a:latin typeface="Calibri"/>
              </a:defRPr>
            </a:pPr>
            <a:r>
              <a:t>• No field verification yet</a:t>
            </a:r>
          </a:p>
          <a:p>
            <a:pPr>
              <a:spcAft>
                <a:spcPts val="600"/>
              </a:spcAft>
              <a:defRPr sz="1700" b="0">
                <a:solidFill>
                  <a:srgbClr val="1F3A5F"/>
                </a:solidFill>
                <a:latin typeface="Calibri"/>
              </a:defRPr>
            </a:pPr>
            <a:r>
              <a:t>• Survey not per risk level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F3A5F"/>
                </a:solidFill>
                <a:latin typeface="Calibri"/>
              </a:defRPr>
            </a:pPr>
            <a:r>
              <a:t>Next steps</a:t>
            </a:r>
          </a:p>
          <a:p>
            <a:pPr>
              <a:spcAft>
                <a:spcPts val="600"/>
              </a:spcAft>
              <a:defRPr sz="1700" b="0">
                <a:solidFill>
                  <a:srgbClr val="1F3A5F"/>
                </a:solidFill>
                <a:latin typeface="Calibri"/>
              </a:defRPr>
            </a:pPr>
            <a:r>
              <a:t>• Field check at 20 points (form provided)</a:t>
            </a:r>
          </a:p>
          <a:p>
            <a:pPr>
              <a:spcAft>
                <a:spcPts val="600"/>
              </a:spcAft>
              <a:defRPr sz="1700" b="0">
                <a:solidFill>
                  <a:srgbClr val="1F3A5F"/>
                </a:solidFill>
                <a:latin typeface="Calibri"/>
              </a:defRPr>
            </a:pPr>
            <a:r>
              <a:t>• Seasonal Landsat composites with recorded scenes (script provided)</a:t>
            </a:r>
          </a:p>
          <a:p>
            <a:pPr>
              <a:spcAft>
                <a:spcPts val="600"/>
              </a:spcAft>
              <a:defRPr sz="1700" b="0">
                <a:solidFill>
                  <a:srgbClr val="1F3A5F"/>
                </a:solidFill>
                <a:latin typeface="Calibri"/>
              </a:defRPr>
            </a:pPr>
            <a:r>
              <a:t>• Exposure overlay: buildings, roads</a:t>
            </a:r>
          </a:p>
          <a:p>
            <a:pPr>
              <a:spcAft>
                <a:spcPts val="600"/>
              </a:spcAft>
              <a:defRPr sz="1700" b="0">
                <a:solidFill>
                  <a:srgbClr val="1F3A5F"/>
                </a:solidFill>
                <a:latin typeface="Calibri"/>
              </a:defRPr>
            </a:pPr>
            <a:r>
              <a:t>• Per-risk-level questionnaire</a:t>
            </a:r>
          </a:p>
          <a:p>
            <a:pPr>
              <a:spcAft>
                <a:spcPts val="600"/>
              </a:spcAft>
              <a:defRPr sz="1700" b="0">
                <a:solidFill>
                  <a:srgbClr val="1F3A5F"/>
                </a:solidFill>
                <a:latin typeface="Calibri"/>
              </a:defRPr>
            </a:pPr>
            <a:r>
              <a:t>• Field-inspection priority: Bulala Norte, Bulala Sur, Linao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